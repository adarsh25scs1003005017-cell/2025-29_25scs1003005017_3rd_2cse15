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5156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INTERNSHIP PRESENTATION</a:t>
            </a:r>
          </a:p>
          <a:p>
            <a:pPr algn="ctr">
              <a:defRPr sz="2500"/>
            </a:pPr>
            <a:r>
              <a:t>Data Science Internship</a:t>
            </a:r>
          </a:p>
          <a:p>
            <a:pPr algn="ctr">
              <a:defRPr sz="1900"/>
            </a:pPr>
            <a:r>
              <a:t>SkillCraft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Adarsh Singh  •  Roll No. 25SCS1003005017</a:t>
            </a:r>
          </a:p>
          <a:p>
            <a:pPr>
              <a:spcAft>
                <a:spcPts val="1000"/>
              </a:spcAft>
              <a:defRPr sz="1700"/>
            </a:pPr>
            <a:r>
              <a:t>B.Tech CSE  •  3rd Semester  •  Section 2CSE15</a:t>
            </a:r>
          </a:p>
          <a:p>
            <a:pPr>
              <a:spcAft>
                <a:spcPts val="1000"/>
              </a:spcAft>
              <a:defRPr sz="1700"/>
            </a:pPr>
            <a:r>
              <a:t>IILM University, Greater Noida  •  Session 2025–29</a:t>
            </a:r>
          </a:p>
          <a:p>
            <a:pPr>
              <a:spcAft>
                <a:spcPts val="1000"/>
              </a:spcAft>
              <a:defRPr sz="1700"/>
            </a:pPr>
            <a:r>
              <a:t>19 July 2026 – 19 August 2026  •  ID: SCT/JUL26/4532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Internship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Internship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4983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Organization: SkillCraft Technology</a:t>
            </a:r>
          </a:p>
          <a:p>
            <a:pPr>
              <a:spcAft>
                <a:spcPts val="1000"/>
              </a:spcAft>
              <a:defRPr sz="1700"/>
            </a:pPr>
            <a:r>
              <a:t>• Role: Data Science Intern</a:t>
            </a:r>
          </a:p>
          <a:p>
            <a:pPr>
              <a:spcAft>
                <a:spcPts val="1000"/>
              </a:spcAft>
              <a:defRPr sz="1700"/>
            </a:pPr>
            <a:r>
              <a:t>• Duration: 1 Month</a:t>
            </a:r>
          </a:p>
          <a:p>
            <a:pPr>
              <a:spcAft>
                <a:spcPts val="1000"/>
              </a:spcAft>
              <a:defRPr sz="1700"/>
            </a:pPr>
            <a:r>
              <a:t>• Dates: 19 Jul 2026 – 19 Aug 2026</a:t>
            </a:r>
          </a:p>
          <a:p>
            <a:pPr>
              <a:spcAft>
                <a:spcPts val="1000"/>
              </a:spcAft>
              <a:defRPr sz="1700"/>
            </a:pPr>
            <a:r>
              <a:t>• Internship ID: SCT/JUL26/4532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08760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Student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965960"/>
            <a:ext cx="4983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Adarsh Singh</a:t>
            </a:r>
          </a:p>
          <a:p>
            <a:pPr>
              <a:spcAft>
                <a:spcPts val="1000"/>
              </a:spcAft>
              <a:defRPr sz="1700"/>
            </a:pPr>
            <a:r>
              <a:t>• Roll No.: 25SCS1003005017</a:t>
            </a:r>
          </a:p>
          <a:p>
            <a:pPr>
              <a:spcAft>
                <a:spcPts val="1000"/>
              </a:spcAft>
              <a:defRPr sz="1700"/>
            </a:pPr>
            <a:r>
              <a:t>• B.Tech Computer Science &amp; Engineering</a:t>
            </a:r>
          </a:p>
          <a:p>
            <a:pPr>
              <a:spcAft>
                <a:spcPts val="1000"/>
              </a:spcAft>
              <a:defRPr sz="1700"/>
            </a:pPr>
            <a:r>
              <a:t>• 3rd Semester • Section 2CSE15</a:t>
            </a:r>
          </a:p>
          <a:p>
            <a:pPr>
              <a:spcAft>
                <a:spcPts val="1000"/>
              </a:spcAft>
              <a:defRPr sz="1700"/>
            </a:pPr>
            <a:r>
              <a:t>• Session: 2025–29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About SkillCraft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• SkillCraft Technology is the organization identified in the official internship offer letter and completion certificate.</a:t>
            </a:r>
          </a:p>
          <a:p>
            <a:pPr>
              <a:spcAft>
                <a:spcPts val="1000"/>
              </a:spcAft>
              <a:defRPr sz="1900"/>
            </a:pPr>
            <a:r>
              <a:t>• The internship role is documented as Data Science Intern.</a:t>
            </a:r>
          </a:p>
          <a:p>
            <a:pPr>
              <a:spcAft>
                <a:spcPts val="1000"/>
              </a:spcAft>
              <a:defRPr sz="1900"/>
            </a:pPr>
            <a:r>
              <a:t>• Internship ID: SCT/JUL26/4532.</a:t>
            </a:r>
          </a:p>
          <a:p>
            <a:pPr>
              <a:spcAft>
                <a:spcPts val="1000"/>
              </a:spcAft>
              <a:defRPr sz="1900"/>
            </a:pPr>
            <a:r>
              <a:t>• The supplied communication identifies the website as skillcrafttech.com.</a:t>
            </a:r>
          </a:p>
          <a:p>
            <a:pPr>
              <a:spcAft>
                <a:spcPts val="1000"/>
              </a:spcAft>
              <a:defRPr sz="1900"/>
            </a:pPr>
            <a:r>
              <a:t>• Detailed company history, client portfolio, revenue or achievements are not specified in the supplied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Internship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• Gain practical exposure to the Data Science domain.</a:t>
            </a:r>
          </a:p>
          <a:p>
            <a:pPr>
              <a:spcAft>
                <a:spcPts val="1000"/>
              </a:spcAft>
              <a:defRPr sz="2100"/>
            </a:pPr>
            <a:r>
              <a:t>• Connect B.Tech CSE concepts with industry-oriented learning.</a:t>
            </a:r>
          </a:p>
          <a:p>
            <a:pPr>
              <a:spcAft>
                <a:spcPts val="1000"/>
              </a:spcAft>
              <a:defRPr sz="2100"/>
            </a:pPr>
            <a:r>
              <a:t>• Develop professional communication and documentation habits.</a:t>
            </a:r>
          </a:p>
          <a:p>
            <a:pPr>
              <a:spcAft>
                <a:spcPts val="1000"/>
              </a:spcAft>
              <a:defRPr sz="2100"/>
            </a:pPr>
            <a:r>
              <a:t>• Understand the stages of a typical Data Science workflow.</a:t>
            </a:r>
          </a:p>
          <a:p>
            <a:pPr>
              <a:spcAft>
                <a:spcPts val="1000"/>
              </a:spcAft>
              <a:defRPr sz="2100"/>
            </a:pPr>
            <a:r>
              <a:t>• Complete the internship requirements and document the experience.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Scope of the Internship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Confirmed scope: a one-month internship in the Data Science domain at SkillCraft Technology.</a:t>
            </a:r>
          </a:p>
          <a:p>
            <a:pPr>
              <a:spcAft>
                <a:spcPts val="1000"/>
              </a:spcAft>
              <a:defRPr sz="2100"/>
            </a:pPr>
            <a:r>
              <a:t>The available official documents do not specify a named project, dataset, application, model, dashboard or deployment target.</a:t>
            </a:r>
          </a:p>
          <a:p>
            <a:pPr>
              <a:spcAft>
                <a:spcPts val="1000"/>
              </a:spcAft>
              <a:defRPr sz="2100"/>
            </a:pPr>
            <a:r>
              <a:t>Therefore, project-specific claims are intentionally not presented as verified facts.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Data Science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What Data Science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4983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Works with structured and unstructured data.</a:t>
            </a:r>
          </a:p>
          <a:p>
            <a:pPr>
              <a:spcAft>
                <a:spcPts val="1000"/>
              </a:spcAft>
              <a:defRPr sz="1700"/>
            </a:pPr>
            <a:r>
              <a:t>• Finds patterns, trends and relationships.</a:t>
            </a:r>
          </a:p>
          <a:p>
            <a:pPr>
              <a:spcAft>
                <a:spcPts val="1000"/>
              </a:spcAft>
              <a:defRPr sz="1700"/>
            </a:pPr>
            <a:r>
              <a:t>• Supports analytical decision making.</a:t>
            </a:r>
          </a:p>
          <a:p>
            <a:pPr>
              <a:spcAft>
                <a:spcPts val="1000"/>
              </a:spcAft>
              <a:defRPr sz="1700"/>
            </a:pPr>
            <a:r>
              <a:t>• Combines computing, statistics and domain reasoning.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08760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965960"/>
            <a:ext cx="4983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Turns data into useful information.</a:t>
            </a:r>
          </a:p>
          <a:p>
            <a:pPr>
              <a:spcAft>
                <a:spcPts val="1000"/>
              </a:spcAft>
              <a:defRPr sz="1700"/>
            </a:pPr>
            <a:r>
              <a:t>• Encourages evidence-based conclusions.</a:t>
            </a:r>
          </a:p>
          <a:p>
            <a:pPr>
              <a:spcAft>
                <a:spcPts val="1000"/>
              </a:spcAft>
              <a:defRPr sz="1700"/>
            </a:pPr>
            <a:r>
              <a:t>• Uses systematic workflows.</a:t>
            </a:r>
          </a:p>
          <a:p>
            <a:pPr>
              <a:spcAft>
                <a:spcPts val="1000"/>
              </a:spcAft>
              <a:defRPr sz="1700"/>
            </a:pPr>
            <a:r>
              <a:t>• Requires careful evaluation and communication.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Conceptual Data Science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General academic workflow — illustrative, not a claim about the exact internship project.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423160"/>
            <a:ext cx="1600200" cy="1234440"/>
          </a:xfrm>
          <a:prstGeom prst="roundRect">
            <a:avLst/>
          </a:prstGeom>
          <a:solidFill>
            <a:srgbClr val="EBF0F7"/>
          </a:solidFill>
          <a:ln>
            <a:solidFill>
              <a:srgbClr val="26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Data</a:t>
            </a:r>
            <a:br/>
            <a:r>
              <a:t>Collection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11680" y="2788920"/>
            <a:ext cx="320040" cy="320040"/>
          </a:xfrm>
          <a:prstGeom prst="rightArrow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2423160"/>
            <a:ext cx="1600200" cy="1234440"/>
          </a:xfrm>
          <a:prstGeom prst="roundRect">
            <a:avLst/>
          </a:prstGeom>
          <a:solidFill>
            <a:srgbClr val="EBF0F7"/>
          </a:solidFill>
          <a:ln>
            <a:solidFill>
              <a:srgbClr val="26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Data</a:t>
            </a:r>
            <a:br/>
            <a:r>
              <a:t>Cleaning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77639" y="2788920"/>
            <a:ext cx="320040" cy="320040"/>
          </a:xfrm>
          <a:prstGeom prst="rightArrow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2423160"/>
            <a:ext cx="1600200" cy="1234440"/>
          </a:xfrm>
          <a:prstGeom prst="roundRect">
            <a:avLst/>
          </a:prstGeom>
          <a:solidFill>
            <a:srgbClr val="EBF0F7"/>
          </a:solidFill>
          <a:ln>
            <a:solidFill>
              <a:srgbClr val="26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Exploratory</a:t>
            </a:r>
            <a:br/>
            <a:r>
              <a:t>Analysis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43600" y="2788920"/>
            <a:ext cx="320040" cy="320040"/>
          </a:xfrm>
          <a:prstGeom prst="rightArrow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59" y="2423160"/>
            <a:ext cx="1600200" cy="1234440"/>
          </a:xfrm>
          <a:prstGeom prst="roundRect">
            <a:avLst/>
          </a:prstGeom>
          <a:solidFill>
            <a:srgbClr val="EBF0F7"/>
          </a:solidFill>
          <a:ln>
            <a:solidFill>
              <a:srgbClr val="26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Model</a:t>
            </a:r>
            <a:br/>
            <a:r>
              <a:t>Building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909559" y="2788920"/>
            <a:ext cx="320040" cy="320040"/>
          </a:xfrm>
          <a:prstGeom prst="rightArrow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19" y="2423160"/>
            <a:ext cx="1600200" cy="1234440"/>
          </a:xfrm>
          <a:prstGeom prst="roundRect">
            <a:avLst/>
          </a:prstGeom>
          <a:solidFill>
            <a:srgbClr val="EBF0F7"/>
          </a:solidFill>
          <a:ln>
            <a:solidFill>
              <a:srgbClr val="26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Evaluation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875519" y="2788920"/>
            <a:ext cx="320040" cy="320040"/>
          </a:xfrm>
          <a:prstGeom prst="rightArrow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241280" y="2423160"/>
            <a:ext cx="1600200" cy="1234440"/>
          </a:xfrm>
          <a:prstGeom prst="roundRect">
            <a:avLst/>
          </a:prstGeom>
          <a:solidFill>
            <a:srgbClr val="EBF0F7"/>
          </a:solidFill>
          <a:ln>
            <a:solidFill>
              <a:srgbClr val="264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/>
            </a:pPr>
            <a:r>
              <a:t>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Conceptual academic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Understand the problem or analytical requirement.</a:t>
            </a:r>
          </a:p>
          <a:p>
            <a:pPr>
              <a:spcAft>
                <a:spcPts val="1000"/>
              </a:spcAft>
              <a:defRPr sz="1800"/>
            </a:pPr>
            <a:r>
              <a:t>2. Identify and prepare relevant data.</a:t>
            </a:r>
          </a:p>
          <a:p>
            <a:pPr>
              <a:spcAft>
                <a:spcPts val="1000"/>
              </a:spcAft>
              <a:defRPr sz="1800"/>
            </a:pPr>
            <a:r>
              <a:t>3. Inspect data quality and perform cleaning.</a:t>
            </a:r>
          </a:p>
          <a:p>
            <a:pPr>
              <a:spcAft>
                <a:spcPts val="1000"/>
              </a:spcAft>
              <a:defRPr sz="1800"/>
            </a:pPr>
            <a:r>
              <a:t>4. Conduct exploratory analysis.</a:t>
            </a:r>
          </a:p>
          <a:p>
            <a:pPr>
              <a:spcAft>
                <a:spcPts val="1000"/>
              </a:spcAft>
              <a:defRPr sz="1800"/>
            </a:pPr>
            <a:r>
              <a:t>5. Select an appropriate analytical/modelling approach when required.</a:t>
            </a:r>
          </a:p>
          <a:p>
            <a:pPr>
              <a:spcAft>
                <a:spcPts val="1000"/>
              </a:spcAft>
              <a:defRPr sz="1800"/>
            </a:pPr>
            <a:r>
              <a:t>6. Evaluate the approach and document findings.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Professional Learning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• Exposure to an organizational internship environment.</a:t>
            </a:r>
          </a:p>
          <a:p>
            <a:pPr>
              <a:spcAft>
                <a:spcPts val="1000"/>
              </a:spcAft>
              <a:defRPr sz="2000"/>
            </a:pPr>
            <a:r>
              <a:t>• Importance of clear communication and documentation.</a:t>
            </a:r>
          </a:p>
          <a:p>
            <a:pPr>
              <a:spcAft>
                <a:spcPts val="1000"/>
              </a:spcAft>
              <a:defRPr sz="2000"/>
            </a:pPr>
            <a:r>
              <a:t>• Understanding the relationship between academic learning and professional practice.</a:t>
            </a:r>
          </a:p>
          <a:p>
            <a:pPr>
              <a:spcAft>
                <a:spcPts val="1000"/>
              </a:spcAft>
              <a:defRPr sz="2000"/>
            </a:pPr>
            <a:r>
              <a:t>• Awareness of structured work, time management and responsible reporting.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Skills &amp; Knowledge Gained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Professional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4983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Communication</a:t>
            </a:r>
          </a:p>
          <a:p>
            <a:pPr>
              <a:spcAft>
                <a:spcPts val="1000"/>
              </a:spcAft>
              <a:defRPr sz="1700"/>
            </a:pPr>
            <a:r>
              <a:t>• Documentation</a:t>
            </a:r>
          </a:p>
          <a:p>
            <a:pPr>
              <a:spcAft>
                <a:spcPts val="1000"/>
              </a:spcAft>
              <a:defRPr sz="1700"/>
            </a:pPr>
            <a:r>
              <a:t>• Presentation</a:t>
            </a:r>
          </a:p>
          <a:p>
            <a:pPr>
              <a:spcAft>
                <a:spcPts val="1000"/>
              </a:spcAft>
              <a:defRPr sz="1700"/>
            </a:pPr>
            <a:r>
              <a:t>• Time management</a:t>
            </a:r>
          </a:p>
          <a:p>
            <a:pPr>
              <a:spcAft>
                <a:spcPts val="1000"/>
              </a:spcAft>
              <a:defRPr sz="1700"/>
            </a:pPr>
            <a:r>
              <a:t>• Structured problem solving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508760"/>
            <a:ext cx="5074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Data Science Understanding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965960"/>
            <a:ext cx="4983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• End-to-end workflow awareness</a:t>
            </a:r>
          </a:p>
          <a:p>
            <a:pPr>
              <a:spcAft>
                <a:spcPts val="1000"/>
              </a:spcAft>
              <a:defRPr sz="1700"/>
            </a:pPr>
            <a:r>
              <a:t>• Data preparation concepts</a:t>
            </a:r>
          </a:p>
          <a:p>
            <a:pPr>
              <a:spcAft>
                <a:spcPts val="1000"/>
              </a:spcAft>
              <a:defRPr sz="1700"/>
            </a:pPr>
            <a:r>
              <a:t>• Exploratory analysis concepts</a:t>
            </a:r>
          </a:p>
          <a:p>
            <a:pPr>
              <a:spcAft>
                <a:spcPts val="1000"/>
              </a:spcAft>
              <a:defRPr sz="1700"/>
            </a:pPr>
            <a:r>
              <a:t>• Evaluation awareness</a:t>
            </a:r>
          </a:p>
          <a:p>
            <a:pPr>
              <a:spcAft>
                <a:spcPts val="1000"/>
              </a:spcAft>
              <a:defRPr sz="1700"/>
            </a:pPr>
            <a:r>
              <a:t>• Evidence-based reporting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Challenges &amp; Problem-Solving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Specific internship challenges are not documented in the supplied official materials.</a:t>
            </a:r>
          </a:p>
          <a:p>
            <a:pPr>
              <a:spcAft>
                <a:spcPts val="1000"/>
              </a:spcAft>
              <a:defRPr sz="1800"/>
            </a:pPr>
            <a:r>
              <a:t>General problem-solving principles:</a:t>
            </a:r>
          </a:p>
          <a:p>
            <a:pPr>
              <a:spcAft>
                <a:spcPts val="1000"/>
              </a:spcAft>
              <a:defRPr sz="1800"/>
            </a:pPr>
            <a:r>
              <a:t>• Clarify requirements before implementation.</a:t>
            </a:r>
          </a:p>
          <a:p>
            <a:pPr>
              <a:spcAft>
                <a:spcPts val="1000"/>
              </a:spcAft>
              <a:defRPr sz="1800"/>
            </a:pPr>
            <a:r>
              <a:t>• Break complex tasks into smaller stages.</a:t>
            </a:r>
          </a:p>
          <a:p>
            <a:pPr>
              <a:spcAft>
                <a:spcPts val="1000"/>
              </a:spcAft>
              <a:defRPr sz="1800"/>
            </a:pPr>
            <a:r>
              <a:t>• Validate inputs and intermediate results.</a:t>
            </a:r>
          </a:p>
          <a:p>
            <a:pPr>
              <a:spcAft>
                <a:spcPts val="1000"/>
              </a:spcAft>
              <a:defRPr sz="1800"/>
            </a:pPr>
            <a:r>
              <a:t>• Document assumptions and limitations.</a:t>
            </a:r>
          </a:p>
          <a:p>
            <a:pPr>
              <a:spcAft>
                <a:spcPts val="1000"/>
              </a:spcAft>
              <a:defRPr sz="1800"/>
            </a:pPr>
            <a:r>
              <a:t>• Review outcomes before presenting conclusions.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Outcomes /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Confirmed outcome:</a:t>
            </a:r>
          </a:p>
          <a:p>
            <a:pPr>
              <a:spcAft>
                <a:spcPts val="1000"/>
              </a:spcAft>
              <a:defRPr sz="1900"/>
            </a:pPr>
            <a:r>
              <a:t>• Successful completion of the 1-month Data Science internship at SkillCraft Technology.</a:t>
            </a:r>
          </a:p>
          <a:p>
            <a:pPr>
              <a:spcAft>
                <a:spcPts val="1000"/>
              </a:spcAft>
              <a:defRPr sz="1900"/>
            </a:pPr>
            <a:r>
              <a:t>• Completion certificate issued for 19 July 2026 – 19 August 2026.</a:t>
            </a:r>
          </a:p>
          <a:p>
            <a:pPr>
              <a:spcAft>
                <a:spcPts val="1000"/>
              </a:spcAft>
              <a:defRPr sz="1900"/>
            </a:pPr>
            <a:r>
              <a:t>• Internship ID: SCT/JUL26/4532.</a:t>
            </a:r>
          </a:p>
          <a:p>
            <a:pPr>
              <a:spcAft>
                <a:spcPts val="1000"/>
              </a:spcAft>
              <a:defRPr sz="1900"/>
            </a:pPr>
          </a:p>
          <a:p>
            <a:pPr>
              <a:spcAft>
                <a:spcPts val="1000"/>
              </a:spcAft>
              <a:defRPr sz="1900"/>
            </a:pPr>
            <a:r>
              <a:t>No project-specific accuracy, metrics, dataset or business-impact figures are documented in the available official materials.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Documentation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The supplied official documents do not specify:</a:t>
            </a:r>
          </a:p>
          <a:p>
            <a:pPr>
              <a:spcAft>
                <a:spcPts val="1000"/>
              </a:spcAft>
              <a:defRPr sz="1800"/>
            </a:pPr>
            <a:r>
              <a:t>• A named project or dataset</a:t>
            </a:r>
          </a:p>
          <a:p>
            <a:pPr>
              <a:spcAft>
                <a:spcPts val="1000"/>
              </a:spcAft>
              <a:defRPr sz="1800"/>
            </a:pPr>
            <a:r>
              <a:t>• Exact programming languages, libraries or frameworks</a:t>
            </a:r>
          </a:p>
          <a:p>
            <a:pPr>
              <a:spcAft>
                <a:spcPts val="1000"/>
              </a:spcAft>
              <a:defRPr sz="1800"/>
            </a:pPr>
            <a:r>
              <a:t>• Detailed day-to-day tasks</a:t>
            </a:r>
          </a:p>
          <a:p>
            <a:pPr>
              <a:spcAft>
                <a:spcPts val="1000"/>
              </a:spcAft>
              <a:defRPr sz="1800"/>
            </a:pPr>
            <a:r>
              <a:t>• Project-specific deliverables</a:t>
            </a:r>
          </a:p>
          <a:p>
            <a:pPr>
              <a:spcAft>
                <a:spcPts val="1000"/>
              </a:spcAft>
              <a:defRPr sz="1800"/>
            </a:pPr>
            <a:r>
              <a:t>• Numerical performance metrics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Accordingly, the presentation avoids unsupported claims.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Adarsh Singh successfully completed a one-month Data Science internship at SkillCraft Technology.</a:t>
            </a:r>
          </a:p>
          <a:p>
            <a:pPr>
              <a:spcAft>
                <a:spcPts val="1000"/>
              </a:spcAft>
              <a:defRPr sz="2100"/>
            </a:pPr>
            <a:r>
              <a:t>The internship provided an industry-oriented context for professional learning and understanding of Data Science.</a:t>
            </a:r>
          </a:p>
          <a:p>
            <a:pPr>
              <a:spcAft>
                <a:spcPts val="1000"/>
              </a:spcAft>
              <a:defRPr sz="2100"/>
            </a:pPr>
            <a:r>
              <a:t>The available documentation supports the internship identity, role, dates and completion; project-specific technical details are not claimed without evidence.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14. Internship Completion Certificate</a:t>
            </a:r>
          </a:p>
        </p:txBody>
      </p:sp>
      <p:pic>
        <p:nvPicPr>
          <p:cNvPr id="4" name="Picture 3" descr="certificat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417320"/>
            <a:ext cx="4389120" cy="310577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4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2024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THANK YOU</a:t>
            </a:r>
          </a:p>
          <a:p>
            <a:pPr algn="ctr">
              <a:defRPr sz="2500"/>
            </a:pPr>
            <a:r>
              <a:t>Questions &amp; Answers</a:t>
            </a:r>
          </a:p>
          <a:p>
            <a:pPr algn="ctr">
              <a:defRPr sz="1600"/>
            </a:pPr>
            <a:r>
              <a:t>Adarsh Singh  •  B.Tech CSE  •  IILM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